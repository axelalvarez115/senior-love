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242C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68335" y="0"/>
            <a:ext cx="45720" cy="685800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7373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 i="0">
                <a:solidFill>
                  <a:srgbClr val="FFDB5A"/>
                </a:solidFill>
                <a:latin typeface="Roboto"/>
              </a:rPr>
              <a:t>TITRE PROFESSIONNEL — RNCP37674 — NIVEAU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6200" b="1" i="0">
                <a:solidFill>
                  <a:srgbClr val="FFFFFF"/>
                </a:solidFill>
                <a:latin typeface="Playfair Display"/>
              </a:rPr>
              <a:t>Senior Love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42900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 i="1">
                <a:solidFill>
                  <a:srgbClr val="C6CED6"/>
                </a:solidFill>
                <a:latin typeface="Roboto"/>
              </a:rPr>
              <a:t>Réseau de rencontre et de sortie dédié aux seniors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88720" y="4114800"/>
            <a:ext cx="1371600" cy="41148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480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6CED6"/>
                </a:solidFill>
                <a:latin typeface="Roboto"/>
              </a:rPr>
              <a:t>Axel ALVAREZ</a:t>
            </a:r>
          </a:p>
          <a:p>
            <a:pPr algn="l">
              <a:lnSpc>
                <a:spcPct val="150000"/>
              </a:lnSpc>
            </a:pPr>
            <a:r>
              <a:rPr sz="1500" b="0" i="0">
                <a:solidFill>
                  <a:srgbClr val="C6CED6"/>
                </a:solidFill>
                <a:latin typeface="Roboto"/>
              </a:rPr>
              <a:t>Développeur Web et Web Mobile  ·  Centre de formation GARAGE404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9815" y="228600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DB5A"/>
                </a:solidFill>
                <a:latin typeface="Playfair Display"/>
              </a:rPr>
              <a:t>PROJET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FFDB5A"/>
                </a:solidFill>
                <a:latin typeface="Playfair Display"/>
              </a:rPr>
              <a:t>EN DEUX TEMPS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9815" y="3108960"/>
            <a:ext cx="2926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B8C2CC"/>
                </a:solidFill>
                <a:latin typeface="Roboto"/>
              </a:rPr>
              <a:t>2023-2024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B8C2CC"/>
                </a:solidFill>
                <a:latin typeface="Roboto"/>
              </a:rPr>
              <a:t>Conception et développement en équipe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B8C2CC"/>
                </a:solidFill>
                <a:latin typeface="Roboto"/>
              </a:rPr>
              <a:t/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B8C2CC"/>
                </a:solidFill>
                <a:latin typeface="Roboto"/>
              </a:rPr>
              <a:t>2026</a:t>
            </a:r>
          </a:p>
          <a:p>
            <a:pPr algn="l">
              <a:lnSpc>
                <a:spcPct val="145000"/>
              </a:lnSpc>
            </a:pPr>
            <a:r>
              <a:rPr sz="1250" b="0" i="0">
                <a:solidFill>
                  <a:srgbClr val="B8C2CC"/>
                </a:solidFill>
                <a:latin typeface="Roboto"/>
              </a:rPr>
              <a:t>Reprise en solo, consolidation et ajout du temps réel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Plan de la présentation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</a:t>
            </a:r>
          </a:p>
        </p:txBody>
      </p:sp>
      <p:sp>
        <p:nvSpPr>
          <p:cNvPr id="8" name="Diamond 7"/>
          <p:cNvSpPr/>
          <p:nvPr/>
        </p:nvSpPr>
        <p:spPr>
          <a:xfrm>
            <a:off x="105156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44168" y="1965960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1.  Contexte et origine du projet</a:t>
            </a:r>
          </a:p>
        </p:txBody>
      </p:sp>
      <p:sp>
        <p:nvSpPr>
          <p:cNvPr id="10" name="Diamond 9"/>
          <p:cNvSpPr/>
          <p:nvPr/>
        </p:nvSpPr>
        <p:spPr>
          <a:xfrm>
            <a:off x="1051560" y="25054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44168" y="2441448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2.  Le besoin et le public visé</a:t>
            </a:r>
          </a:p>
        </p:txBody>
      </p:sp>
      <p:sp>
        <p:nvSpPr>
          <p:cNvPr id="12" name="Diamond 11"/>
          <p:cNvSpPr/>
          <p:nvPr/>
        </p:nvSpPr>
        <p:spPr>
          <a:xfrm>
            <a:off x="1051560" y="298094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916936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3.  Les compétences du référentiel</a:t>
            </a:r>
          </a:p>
        </p:txBody>
      </p:sp>
      <p:sp>
        <p:nvSpPr>
          <p:cNvPr id="14" name="Diamond 13"/>
          <p:cNvSpPr/>
          <p:nvPr/>
        </p:nvSpPr>
        <p:spPr>
          <a:xfrm>
            <a:off x="1051560" y="345643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4168" y="3392424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4.  Conception : organisation et maquettes</a:t>
            </a:r>
          </a:p>
        </p:txBody>
      </p:sp>
      <p:sp>
        <p:nvSpPr>
          <p:cNvPr id="16" name="Diamond 15"/>
          <p:cNvSpPr/>
          <p:nvPr/>
        </p:nvSpPr>
        <p:spPr>
          <a:xfrm>
            <a:off x="1051560" y="393192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3867912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5.  Les choix techniques</a:t>
            </a:r>
          </a:p>
        </p:txBody>
      </p:sp>
      <p:sp>
        <p:nvSpPr>
          <p:cNvPr id="18" name="Diamond 17"/>
          <p:cNvSpPr/>
          <p:nvPr/>
        </p:nvSpPr>
        <p:spPr>
          <a:xfrm>
            <a:off x="1051560" y="440740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4168" y="4343400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6.  L'architecture MVC</a:t>
            </a:r>
          </a:p>
        </p:txBody>
      </p:sp>
      <p:sp>
        <p:nvSpPr>
          <p:cNvPr id="20" name="Diamond 19"/>
          <p:cNvSpPr/>
          <p:nvPr/>
        </p:nvSpPr>
        <p:spPr>
          <a:xfrm>
            <a:off x="1051560" y="488289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44168" y="4818888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7.  La base de données</a:t>
            </a:r>
          </a:p>
        </p:txBody>
      </p:sp>
      <p:sp>
        <p:nvSpPr>
          <p:cNvPr id="22" name="Diamond 21"/>
          <p:cNvSpPr/>
          <p:nvPr/>
        </p:nvSpPr>
        <p:spPr>
          <a:xfrm>
            <a:off x="658368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1965960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8.  Le front-end : EJS et SCSS</a:t>
            </a:r>
          </a:p>
        </p:txBody>
      </p:sp>
      <p:sp>
        <p:nvSpPr>
          <p:cNvPr id="24" name="Diamond 23"/>
          <p:cNvSpPr/>
          <p:nvPr/>
        </p:nvSpPr>
        <p:spPr>
          <a:xfrm>
            <a:off x="6583680" y="25054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2441448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9.  Le back-end : routage et sécurité</a:t>
            </a:r>
          </a:p>
        </p:txBody>
      </p:sp>
      <p:sp>
        <p:nvSpPr>
          <p:cNvPr id="26" name="Diamond 25"/>
          <p:cNvSpPr/>
          <p:nvPr/>
        </p:nvSpPr>
        <p:spPr>
          <a:xfrm>
            <a:off x="6583680" y="298094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2916936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10. Le temps réel : Socket.io</a:t>
            </a:r>
          </a:p>
        </p:txBody>
      </p:sp>
      <p:sp>
        <p:nvSpPr>
          <p:cNvPr id="28" name="Diamond 27"/>
          <p:cNvSpPr/>
          <p:nvPr/>
        </p:nvSpPr>
        <p:spPr>
          <a:xfrm>
            <a:off x="6583680" y="345643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3392424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11. Accessibilité et RGPD</a:t>
            </a:r>
          </a:p>
        </p:txBody>
      </p:sp>
      <p:sp>
        <p:nvSpPr>
          <p:cNvPr id="30" name="Diamond 29"/>
          <p:cNvSpPr/>
          <p:nvPr/>
        </p:nvSpPr>
        <p:spPr>
          <a:xfrm>
            <a:off x="6583680" y="393192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3867912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12. L'administration</a:t>
            </a:r>
          </a:p>
        </p:txBody>
      </p:sp>
      <p:sp>
        <p:nvSpPr>
          <p:cNvPr id="32" name="Diamond 31"/>
          <p:cNvSpPr/>
          <p:nvPr/>
        </p:nvSpPr>
        <p:spPr>
          <a:xfrm>
            <a:off x="6583680" y="440740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76288" y="4343400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13. Démonstration</a:t>
            </a:r>
          </a:p>
        </p:txBody>
      </p:sp>
      <p:sp>
        <p:nvSpPr>
          <p:cNvPr id="34" name="Diamond 33"/>
          <p:cNvSpPr/>
          <p:nvPr/>
        </p:nvSpPr>
        <p:spPr>
          <a:xfrm>
            <a:off x="6583680" y="488289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76288" y="4818888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0" i="0">
                <a:solidFill>
                  <a:srgbClr val="1C222B"/>
                </a:solidFill>
                <a:latin typeface="Roboto"/>
              </a:rPr>
              <a:t>14. Bilan et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1 — CONTEXTE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Origine et histoire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874519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74519"/>
            <a:ext cx="5120640" cy="50292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488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Version initiale — 2023-2024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532887"/>
            <a:ext cx="46634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Projet de fin de formation, choisi parmi une sélection d'idées proposée par l'école.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Développé en équipe sur environ un mois, selon une approche produit minimum viable.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Mon rôle : principalement le back-end.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874519"/>
            <a:ext cx="51206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874519"/>
            <a:ext cx="5120640" cy="5029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02552" y="2148839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Reprise en solo —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2552" y="2532887"/>
            <a:ext cx="466344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Appropriation de l'intégralité du code existant, puis consolidation.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Reprise de sécurité et ajout d'une messagerie et de notifications en temps réel.</a:t>
            </a:r>
          </a:p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Le périmètre décrit ici relève de ce second temps.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51960"/>
            <a:ext cx="10744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251960"/>
            <a:ext cx="45720" cy="105156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5262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470"/>
                </a:solidFill>
                <a:latin typeface="Roboto"/>
              </a:rPr>
              <a:t>Pourquoi ce sujet ? La mise en relation d'utilisateurs mobilise l'ensemble des aspects du métier : maquettage, interface dynamique, modélisation relationnelle, logique métier et sécurité.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2 — LE BESOIN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Une application pensée pour les 60 ans et plus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5A6470"/>
                </a:solidFill>
                <a:latin typeface="Roboto"/>
              </a:rPr>
              <a:t>L'isolement social des seniors est documenté. Les plateformes existantes, conçues pour un public jeune, opposent des interfaces denses et des parcours longs à ceux qui en auraient le plus besoin.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788920"/>
            <a:ext cx="2514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788920"/>
            <a:ext cx="2514600" cy="50292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Mise en 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" y="344728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Profils suggérés selon les critères de chacun, avec réciprocité.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74720" y="2788920"/>
            <a:ext cx="2514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74720" y="2788920"/>
            <a:ext cx="2514600" cy="5029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Événements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30752" y="344728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Le cœur du concept : se rencontrer dans la vraie vie.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788920"/>
            <a:ext cx="2514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72200" y="2788920"/>
            <a:ext cx="2514600" cy="50292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Échanges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344728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Commentaires d'événements et messagerie privée.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69680" y="2788920"/>
            <a:ext cx="2514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2788920"/>
            <a:ext cx="2514600" cy="5029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3063240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Accessibilité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3447288"/>
            <a:ext cx="20574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Contrastes, typographie lisible, parcours courts.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920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1">
                <a:solidFill>
                  <a:srgbClr val="1C222B"/>
                </a:solidFill>
                <a:latin typeface="Playfair Display"/>
              </a:rPr>
              <a:t>Finalité : permettre à terme de rencontrer son âme sœur.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3 — RÉFÉRENTIEL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Les compétences couvertes par le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5A6470"/>
                </a:solidFill>
                <a:latin typeface="Roboto"/>
              </a:rPr>
              <a:t>Fiche RNCP37674 — arrêté du 26 avril 2023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52120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194560"/>
            <a:ext cx="5212080" cy="54864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423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BC01 — Partie front-end sécurisée</a:t>
            </a:r>
          </a:p>
        </p:txBody>
      </p:sp>
      <p:sp>
        <p:nvSpPr>
          <p:cNvPr id="12" name="Diamond 11"/>
          <p:cNvSpPr/>
          <p:nvPr/>
        </p:nvSpPr>
        <p:spPr>
          <a:xfrm>
            <a:off x="1051560" y="299008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4168" y="2926080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Installer et configurer son environnement de travail</a:t>
            </a:r>
          </a:p>
        </p:txBody>
      </p:sp>
      <p:sp>
        <p:nvSpPr>
          <p:cNvPr id="14" name="Diamond 13"/>
          <p:cNvSpPr/>
          <p:nvPr/>
        </p:nvSpPr>
        <p:spPr>
          <a:xfrm>
            <a:off x="1051560" y="368503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44168" y="3621024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Maquetter des interfaces utilisateur</a:t>
            </a:r>
          </a:p>
        </p:txBody>
      </p:sp>
      <p:sp>
        <p:nvSpPr>
          <p:cNvPr id="16" name="Diamond 15"/>
          <p:cNvSpPr/>
          <p:nvPr/>
        </p:nvSpPr>
        <p:spPr>
          <a:xfrm>
            <a:off x="1051560" y="406908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4168" y="4005072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Réaliser des interfaces utilisateur statiques</a:t>
            </a:r>
          </a:p>
        </p:txBody>
      </p:sp>
      <p:sp>
        <p:nvSpPr>
          <p:cNvPr id="18" name="Diamond 17"/>
          <p:cNvSpPr/>
          <p:nvPr/>
        </p:nvSpPr>
        <p:spPr>
          <a:xfrm>
            <a:off x="1051560" y="476402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4168" y="4700016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Développer la partie dynamique des interfaces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194560"/>
            <a:ext cx="52120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2194560"/>
            <a:ext cx="5212080" cy="54864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42316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BC02 — Partie back-end sécurisée</a:t>
            </a:r>
          </a:p>
        </p:txBody>
      </p:sp>
      <p:sp>
        <p:nvSpPr>
          <p:cNvPr id="23" name="Diamond 22"/>
          <p:cNvSpPr/>
          <p:nvPr/>
        </p:nvSpPr>
        <p:spPr>
          <a:xfrm>
            <a:off x="6812280" y="299008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2926080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Mettre en place une base de données relationnelle</a:t>
            </a:r>
          </a:p>
        </p:txBody>
      </p:sp>
      <p:sp>
        <p:nvSpPr>
          <p:cNvPr id="25" name="Diamond 24"/>
          <p:cNvSpPr/>
          <p:nvPr/>
        </p:nvSpPr>
        <p:spPr>
          <a:xfrm>
            <a:off x="6812280" y="368503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3621024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Développer des composants d'accès aux données SQL et NoSQL</a:t>
            </a:r>
          </a:p>
        </p:txBody>
      </p:sp>
      <p:sp>
        <p:nvSpPr>
          <p:cNvPr id="27" name="Diamond 26"/>
          <p:cNvSpPr/>
          <p:nvPr/>
        </p:nvSpPr>
        <p:spPr>
          <a:xfrm>
            <a:off x="6812280" y="437997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4888" y="4315968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Développer des composants métier coté serveur</a:t>
            </a:r>
          </a:p>
        </p:txBody>
      </p:sp>
      <p:sp>
        <p:nvSpPr>
          <p:cNvPr id="29" name="Diamond 28"/>
          <p:cNvSpPr/>
          <p:nvPr/>
        </p:nvSpPr>
        <p:spPr>
          <a:xfrm>
            <a:off x="6812280" y="507492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04888" y="5010912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Documenter le déploiement d'une application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53212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C222B"/>
                </a:solidFill>
                <a:latin typeface="Roboto"/>
              </a:rPr>
              <a:t>Senior Love mobilise les deux blocs, du maquettage jusqu'à la sécurisation du back-end.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4 —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Méthodologie et organisation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5</a:t>
            </a:r>
          </a:p>
        </p:txBody>
      </p:sp>
      <p:sp>
        <p:nvSpPr>
          <p:cNvPr id="8" name="Diamond 7"/>
          <p:cNvSpPr/>
          <p:nvPr/>
        </p:nvSpPr>
        <p:spPr>
          <a:xfrm>
            <a:off x="96012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65960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Démarche itérative : besoin → conception → développement par incréments.</a:t>
            </a:r>
          </a:p>
        </p:txBody>
      </p:sp>
      <p:sp>
        <p:nvSpPr>
          <p:cNvPr id="10" name="Diamond 9"/>
          <p:cNvSpPr/>
          <p:nvPr/>
        </p:nvSpPr>
        <p:spPr>
          <a:xfrm>
            <a:off x="960120" y="272491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660904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Conception menée en amont : user stories, maquettes, modèle de données.</a:t>
            </a:r>
          </a:p>
        </p:txBody>
      </p:sp>
      <p:sp>
        <p:nvSpPr>
          <p:cNvPr id="12" name="Diamond 11"/>
          <p:cNvSpPr/>
          <p:nvPr/>
        </p:nvSpPr>
        <p:spPr>
          <a:xfrm>
            <a:off x="960120" y="34198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355848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Versionnement Git avec des messages préfixés (FEAT, FIX, REMOVE, MERGE).</a:t>
            </a:r>
          </a:p>
        </p:txBody>
      </p:sp>
      <p:sp>
        <p:nvSpPr>
          <p:cNvPr id="14" name="Diamond 13"/>
          <p:cNvSpPr/>
          <p:nvPr/>
        </p:nvSpPr>
        <p:spPr>
          <a:xfrm>
            <a:off x="960120" y="411480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050792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Branches dédiées et fusions pour intégrer Socket.io sans déstabiliser l'existant.</a:t>
            </a:r>
          </a:p>
        </p:txBody>
      </p:sp>
      <p:sp>
        <p:nvSpPr>
          <p:cNvPr id="16" name="Diamond 15"/>
          <p:cNvSpPr/>
          <p:nvPr/>
        </p:nvSpPr>
        <p:spPr>
          <a:xfrm>
            <a:off x="960120" y="480974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745736"/>
            <a:ext cx="5193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Dépôt distant GitHub : sauvegarde et traçabilité de l'évolution.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65960"/>
            <a:ext cx="4892040" cy="3108960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1965960"/>
            <a:ext cx="45720" cy="310896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14884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FDB5A"/>
                </a:solidFill>
                <a:latin typeface="Roboto"/>
              </a:rPr>
              <a:t>EXTRAIT DE L'HISTORIQUE GIT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496312"/>
            <a:ext cx="4434840" cy="2441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FEAT : notifications temps réel dans le header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FIX  : sécurité (exclusion password,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     contrôle contacts chat, store session PG)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MERGE: intégration socket.io dans main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REMOVE : images upload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4 —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Les user stories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1" i="0">
                <a:solidFill>
                  <a:srgbClr val="0D95AB"/>
                </a:solidFill>
                <a:latin typeface="Playfair Display"/>
              </a:rPr>
              <a:t>En tant que membre connecté, je peux…</a:t>
            </a:r>
          </a:p>
        </p:txBody>
      </p:sp>
      <p:sp>
        <p:nvSpPr>
          <p:cNvPr id="9" name="Diamond 8"/>
          <p:cNvSpPr/>
          <p:nvPr/>
        </p:nvSpPr>
        <p:spPr>
          <a:xfrm>
            <a:off x="960120" y="244144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377440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créer un compte et me connecter</a:t>
            </a:r>
          </a:p>
        </p:txBody>
      </p:sp>
      <p:sp>
        <p:nvSpPr>
          <p:cNvPr id="11" name="Diamond 10"/>
          <p:cNvSpPr/>
          <p:nvPr/>
        </p:nvSpPr>
        <p:spPr>
          <a:xfrm>
            <a:off x="960120" y="291693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2852928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consulter des profils correspondant à mes critères</a:t>
            </a:r>
          </a:p>
        </p:txBody>
      </p:sp>
      <p:sp>
        <p:nvSpPr>
          <p:cNvPr id="13" name="Diamond 12"/>
          <p:cNvSpPr/>
          <p:nvPr/>
        </p:nvSpPr>
        <p:spPr>
          <a:xfrm>
            <a:off x="960120" y="361188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547872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envoyer une demande de contact</a:t>
            </a:r>
          </a:p>
        </p:txBody>
      </p:sp>
      <p:sp>
        <p:nvSpPr>
          <p:cNvPr id="15" name="Diamond 14"/>
          <p:cNvSpPr/>
          <p:nvPr/>
        </p:nvSpPr>
        <p:spPr>
          <a:xfrm>
            <a:off x="960120" y="40873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023360"/>
            <a:ext cx="4736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accepter ou refuser les demandes reçues</a:t>
            </a:r>
          </a:p>
        </p:txBody>
      </p:sp>
      <p:sp>
        <p:nvSpPr>
          <p:cNvPr id="17" name="Diamond 16"/>
          <p:cNvSpPr/>
          <p:nvPr/>
        </p:nvSpPr>
        <p:spPr>
          <a:xfrm>
            <a:off x="6583680" y="244144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76288" y="2377440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parcourir les événements et m'y inscrire</a:t>
            </a:r>
          </a:p>
        </p:txBody>
      </p:sp>
      <p:sp>
        <p:nvSpPr>
          <p:cNvPr id="19" name="Diamond 18"/>
          <p:cNvSpPr/>
          <p:nvPr/>
        </p:nvSpPr>
        <p:spPr>
          <a:xfrm>
            <a:off x="6583680" y="291693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76288" y="2852928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commenter un événement</a:t>
            </a:r>
          </a:p>
        </p:txBody>
      </p:sp>
      <p:sp>
        <p:nvSpPr>
          <p:cNvPr id="21" name="Diamond 20"/>
          <p:cNvSpPr/>
          <p:nvPr/>
        </p:nvSpPr>
        <p:spPr>
          <a:xfrm>
            <a:off x="6583680" y="339242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76288" y="3328416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discuter en temps réel avec mes contacts</a:t>
            </a:r>
          </a:p>
        </p:txBody>
      </p:sp>
      <p:sp>
        <p:nvSpPr>
          <p:cNvPr id="23" name="Diamond 22"/>
          <p:cNvSpPr/>
          <p:nvPr/>
        </p:nvSpPr>
        <p:spPr>
          <a:xfrm>
            <a:off x="6583680" y="386791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76288" y="3803904"/>
            <a:ext cx="4645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être notifié instantanément des interactions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526280"/>
            <a:ext cx="107442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526280"/>
            <a:ext cx="45720" cy="86868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754880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A6470"/>
                </a:solidFill>
                <a:latin typeface="Roboto"/>
              </a:rPr>
              <a:t>L'administrateur gère l'ensemble du contenu : membres, événements, commentaires, centres d'intérêt et affinités.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4 —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Maquettage et charte graphique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7</a:t>
            </a:r>
          </a:p>
        </p:txBody>
      </p:sp>
      <p:sp>
        <p:nvSpPr>
          <p:cNvPr id="8" name="Diamond 7"/>
          <p:cNvSpPr/>
          <p:nvPr/>
        </p:nvSpPr>
        <p:spPr>
          <a:xfrm>
            <a:off x="96012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6596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Wireframes réalisés sous Whimsical, en déclinaison poste fixe et mobile.</a:t>
            </a:r>
          </a:p>
        </p:txBody>
      </p:sp>
      <p:sp>
        <p:nvSpPr>
          <p:cNvPr id="10" name="Diamond 9"/>
          <p:cNvSpPr/>
          <p:nvPr/>
        </p:nvSpPr>
        <p:spPr>
          <a:xfrm>
            <a:off x="960120" y="272491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660904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Typographies retenues pour la lisibilité : Playfair Display et Roboto.</a:t>
            </a:r>
          </a:p>
        </p:txBody>
      </p:sp>
      <p:sp>
        <p:nvSpPr>
          <p:cNvPr id="12" name="Diamond 11"/>
          <p:cNvSpPr/>
          <p:nvPr/>
        </p:nvSpPr>
        <p:spPr>
          <a:xfrm>
            <a:off x="960120" y="34198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355848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Zones cliquables généreuses, contrastes marqués, parcours en peu d'étapes.</a:t>
            </a:r>
          </a:p>
        </p:txBody>
      </p:sp>
      <p:sp>
        <p:nvSpPr>
          <p:cNvPr id="14" name="Diamond 13"/>
          <p:cNvSpPr/>
          <p:nvPr/>
        </p:nvSpPr>
        <p:spPr>
          <a:xfrm>
            <a:off x="960120" y="411480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050792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Charte pilotée par des variables SCSS : couleurs et espacements centralisés.</a:t>
            </a:r>
          </a:p>
        </p:txBody>
      </p:sp>
      <p:sp>
        <p:nvSpPr>
          <p:cNvPr id="16" name="Diamond 15"/>
          <p:cNvSpPr/>
          <p:nvPr/>
        </p:nvSpPr>
        <p:spPr>
          <a:xfrm>
            <a:off x="960120" y="480974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745736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Design adaptatif du mobile au poste fixe.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2194560"/>
            <a:ext cx="1371600" cy="13716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367588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Consolas"/>
              </a:rPr>
              <a:t>#cf5858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66760" y="2194560"/>
            <a:ext cx="1371600" cy="137160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67588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Consolas"/>
              </a:rPr>
              <a:t>#ffdb5a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2194560"/>
            <a:ext cx="1371600" cy="1371600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66960" y="367588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Consolas"/>
              </a:rPr>
              <a:t>#0d95ab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420624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5A6470"/>
                </a:solidFill>
                <a:latin typeface="Roboto"/>
              </a:rPr>
              <a:t>Une palette restreinte et contrastée, déclarée une seule fois dans _vars.scss et réutilisée par tous les composants.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4 — CONCEPTION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Diagramme de navigation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32918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3291840" cy="54864"/>
          </a:xfrm>
          <a:prstGeom prst="rect">
            <a:avLst/>
          </a:prstGeom>
          <a:solidFill>
            <a:srgbClr val="5A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Zone publique</a:t>
            </a:r>
          </a:p>
        </p:txBody>
      </p:sp>
      <p:sp>
        <p:nvSpPr>
          <p:cNvPr id="11" name="Diamond 10"/>
          <p:cNvSpPr/>
          <p:nvPr/>
        </p:nvSpPr>
        <p:spPr>
          <a:xfrm>
            <a:off x="1051560" y="267004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606040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Accueil</a:t>
            </a:r>
          </a:p>
        </p:txBody>
      </p:sp>
      <p:sp>
        <p:nvSpPr>
          <p:cNvPr id="13" name="Diamond 12"/>
          <p:cNvSpPr/>
          <p:nvPr/>
        </p:nvSpPr>
        <p:spPr>
          <a:xfrm>
            <a:off x="1051560" y="307238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008376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FAQ</a:t>
            </a:r>
          </a:p>
        </p:txBody>
      </p:sp>
      <p:sp>
        <p:nvSpPr>
          <p:cNvPr id="15" name="Diamond 14"/>
          <p:cNvSpPr/>
          <p:nvPr/>
        </p:nvSpPr>
        <p:spPr>
          <a:xfrm>
            <a:off x="1051560" y="347472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3410712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Assistance</a:t>
            </a:r>
          </a:p>
        </p:txBody>
      </p:sp>
      <p:sp>
        <p:nvSpPr>
          <p:cNvPr id="17" name="Diamond 16"/>
          <p:cNvSpPr/>
          <p:nvPr/>
        </p:nvSpPr>
        <p:spPr>
          <a:xfrm>
            <a:off x="1051560" y="38770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3813048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Inscription</a:t>
            </a:r>
          </a:p>
        </p:txBody>
      </p:sp>
      <p:sp>
        <p:nvSpPr>
          <p:cNvPr id="19" name="Diamond 18"/>
          <p:cNvSpPr/>
          <p:nvPr/>
        </p:nvSpPr>
        <p:spPr>
          <a:xfrm>
            <a:off x="1051560" y="427939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44168" y="4215384"/>
            <a:ext cx="25420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Connexion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192024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20" y="1920240"/>
            <a:ext cx="3566160" cy="54864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214884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Zone membre</a:t>
            </a:r>
          </a:p>
        </p:txBody>
      </p:sp>
      <p:sp>
        <p:nvSpPr>
          <p:cNvPr id="24" name="Diamond 23"/>
          <p:cNvSpPr/>
          <p:nvPr/>
        </p:nvSpPr>
        <p:spPr>
          <a:xfrm>
            <a:off x="4892040" y="267004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84648" y="2606040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Rencontres et profils</a:t>
            </a:r>
          </a:p>
        </p:txBody>
      </p:sp>
      <p:sp>
        <p:nvSpPr>
          <p:cNvPr id="26" name="Diamond 25"/>
          <p:cNvSpPr/>
          <p:nvPr/>
        </p:nvSpPr>
        <p:spPr>
          <a:xfrm>
            <a:off x="4892040" y="307238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84648" y="3008376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Événements</a:t>
            </a:r>
          </a:p>
        </p:txBody>
      </p:sp>
      <p:sp>
        <p:nvSpPr>
          <p:cNvPr id="28" name="Diamond 27"/>
          <p:cNvSpPr/>
          <p:nvPr/>
        </p:nvSpPr>
        <p:spPr>
          <a:xfrm>
            <a:off x="4892040" y="347472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184648" y="3410712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Messagerie</a:t>
            </a:r>
          </a:p>
        </p:txBody>
      </p:sp>
      <p:sp>
        <p:nvSpPr>
          <p:cNvPr id="30" name="Diamond 29"/>
          <p:cNvSpPr/>
          <p:nvPr/>
        </p:nvSpPr>
        <p:spPr>
          <a:xfrm>
            <a:off x="4892040" y="38770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84648" y="3813048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Mon compte</a:t>
            </a:r>
          </a:p>
        </p:txBody>
      </p:sp>
      <p:sp>
        <p:nvSpPr>
          <p:cNvPr id="32" name="Diamond 31"/>
          <p:cNvSpPr/>
          <p:nvPr/>
        </p:nvSpPr>
        <p:spPr>
          <a:xfrm>
            <a:off x="4892040" y="427939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184648" y="4215384"/>
            <a:ext cx="2816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Mes contacts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58200" y="1920240"/>
            <a:ext cx="31089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58200" y="1920240"/>
            <a:ext cx="3108960" cy="54864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32520" y="2148840"/>
            <a:ext cx="2560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Back-office</a:t>
            </a:r>
          </a:p>
        </p:txBody>
      </p:sp>
      <p:sp>
        <p:nvSpPr>
          <p:cNvPr id="37" name="Diamond 36"/>
          <p:cNvSpPr/>
          <p:nvPr/>
        </p:nvSpPr>
        <p:spPr>
          <a:xfrm>
            <a:off x="8732520" y="267004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25128" y="2606040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Tableau de bord</a:t>
            </a:r>
          </a:p>
        </p:txBody>
      </p:sp>
      <p:sp>
        <p:nvSpPr>
          <p:cNvPr id="39" name="Diamond 38"/>
          <p:cNvSpPr/>
          <p:nvPr/>
        </p:nvSpPr>
        <p:spPr>
          <a:xfrm>
            <a:off x="8732520" y="307238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25128" y="3008376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Membres</a:t>
            </a:r>
          </a:p>
        </p:txBody>
      </p:sp>
      <p:sp>
        <p:nvSpPr>
          <p:cNvPr id="41" name="Diamond 40"/>
          <p:cNvSpPr/>
          <p:nvPr/>
        </p:nvSpPr>
        <p:spPr>
          <a:xfrm>
            <a:off x="8732520" y="347472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25128" y="3410712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Événements</a:t>
            </a:r>
          </a:p>
        </p:txBody>
      </p:sp>
      <p:sp>
        <p:nvSpPr>
          <p:cNvPr id="43" name="Diamond 42"/>
          <p:cNvSpPr/>
          <p:nvPr/>
        </p:nvSpPr>
        <p:spPr>
          <a:xfrm>
            <a:off x="8732520" y="38770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25128" y="3813048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Commentaires</a:t>
            </a:r>
          </a:p>
        </p:txBody>
      </p:sp>
      <p:sp>
        <p:nvSpPr>
          <p:cNvPr id="45" name="Diamond 44"/>
          <p:cNvSpPr/>
          <p:nvPr/>
        </p:nvSpPr>
        <p:spPr>
          <a:xfrm>
            <a:off x="8732520" y="427939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25128" y="4215384"/>
            <a:ext cx="23591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1C222B"/>
                </a:solidFill>
                <a:latin typeface="Roboto"/>
              </a:rPr>
              <a:t>Référentiels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4406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C222B"/>
                </a:solidFill>
                <a:latin typeface="Roboto"/>
              </a:rPr>
              <a:t>Toute page protégée redirige vers la connexion, puis ramène l'utilisateur à l'adresse initialement demandée.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5 — CHOIX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La pile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45720" cy="1371600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26771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Node.js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" y="272491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0"/>
                </a:solidFill>
                <a:latin typeface="Roboto"/>
              </a:rPr>
              <a:t>Exécution JS serveur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011680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011680"/>
            <a:ext cx="45720" cy="13716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226771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72491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0"/>
                </a:solidFill>
                <a:latin typeface="Roboto"/>
              </a:rPr>
              <a:t>Routage et middlewares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011680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45720" cy="1371600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226771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EJS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72491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0"/>
                </a:solidFill>
                <a:latin typeface="Roboto"/>
              </a:rPr>
              <a:t>Rendu des vues côté serveur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011680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011680"/>
            <a:ext cx="45720" cy="13716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62872" y="2267712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SCSS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2872" y="2724912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0"/>
                </a:solidFill>
                <a:latin typeface="Roboto"/>
              </a:rPr>
              <a:t>Styles compilés en CSS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584448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584448"/>
            <a:ext cx="45720" cy="1371600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33272" y="3840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PostgreSQL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" y="4297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0"/>
                </a:solidFill>
                <a:latin typeface="Roboto"/>
              </a:rPr>
              <a:t>Base relationnelle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3584448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3584448"/>
            <a:ext cx="45720" cy="13716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76472" y="3840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Sequelize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76472" y="4297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0"/>
                </a:solidFill>
                <a:latin typeface="Roboto"/>
              </a:rPr>
              <a:t>ORM et accès aux données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584448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584448"/>
            <a:ext cx="45720" cy="1371600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19672" y="3840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Socket.io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4297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0"/>
                </a:solidFill>
                <a:latin typeface="Roboto"/>
              </a:rPr>
              <a:t>Temps réel (WebSocket)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3584448"/>
            <a:ext cx="2542032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3584448"/>
            <a:ext cx="45720" cy="13716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62872" y="384048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1" i="0">
                <a:solidFill>
                  <a:srgbClr val="1C222B"/>
                </a:solidFill>
                <a:latin typeface="Playfair Display"/>
              </a:rPr>
              <a:t>bcrypt · validator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62872" y="429768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6470"/>
                </a:solidFill>
                <a:latin typeface="Roboto"/>
              </a:rPr>
              <a:t>Hachage et 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1">
                <a:solidFill>
                  <a:srgbClr val="1C222B"/>
                </a:solidFill>
                <a:latin typeface="Roboto"/>
              </a:rPr>
              <a:t>Une pile JavaScript de bout en bout, cohérente du serveur jusqu'au navigateur.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5 — CHOIX TECHNIQUES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Pourquoi ces technologies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65960"/>
            <a:ext cx="10744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65960"/>
            <a:ext cx="45720" cy="914400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130552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Express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2130552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Léger et très répandu. Son système de middlewares permet de déclarer la sécurité route par route, de façon lisible.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3026664"/>
            <a:ext cx="10744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3026664"/>
            <a:ext cx="45720" cy="9144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19125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EJS — rendu serveur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51960" y="3191256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Le HTML est produit par le serveur avec ses données. Le contenu s'affiche même si le JavaScript est lent ou dégradé — décisif pour le public visé.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087368"/>
            <a:ext cx="10744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45720" cy="914400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25196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PostgreSQL + Sequelize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51960" y="425196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Base relationnelle robuste. L'ORM paramètre systématiquement les requêtes et protège de l'injection SQL.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148072"/>
            <a:ext cx="10744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" y="5148072"/>
            <a:ext cx="45720" cy="9144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312664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Socket.io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5312664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Standard de fait du temps réel : gère la reconnexion et le repli automatique si le WebSocket n'est pas disponible.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6 —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Une architecture Modèle-Vue-Contrôleur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286000"/>
            <a:ext cx="1572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1572768" cy="50292"/>
          </a:xfrm>
          <a:prstGeom prst="rect">
            <a:avLst/>
          </a:prstGeom>
          <a:solidFill>
            <a:srgbClr val="5A64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257860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C222B"/>
                </a:solidFill>
                <a:latin typeface="Playfair Display"/>
              </a:rPr>
              <a:t>Navigateur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9992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0"/>
                </a:solidFill>
                <a:latin typeface="Roboto"/>
              </a:rPr>
              <a:t>requête HTTP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68296" y="27432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CF5858"/>
                </a:solidFill>
                <a:latin typeface="Roboto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87752" y="2286000"/>
            <a:ext cx="1572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87752" y="2286000"/>
            <a:ext cx="1572768" cy="50292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34056" y="257860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C222B"/>
                </a:solidFill>
                <a:latin typeface="Playfair Display"/>
              </a:rPr>
              <a:t>Middlewares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29992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0"/>
                </a:solidFill>
                <a:latin typeface="Roboto"/>
              </a:rPr>
              <a:t>session · alertes · accès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78808" y="27432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CF5858"/>
                </a:solidFill>
                <a:latin typeface="Roboto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8264" y="2286000"/>
            <a:ext cx="1572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98264" y="2286000"/>
            <a:ext cx="1572768" cy="50292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44568" y="257860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C222B"/>
                </a:solidFill>
                <a:latin typeface="Playfair Display"/>
              </a:rPr>
              <a:t>router.js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29992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0"/>
                </a:solidFill>
                <a:latin typeface="Roboto"/>
              </a:rPr>
              <a:t>54 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27432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CF5858"/>
                </a:solidFill>
                <a:latin typeface="Roboto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08776" y="2286000"/>
            <a:ext cx="1572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08776" y="2286000"/>
            <a:ext cx="1572768" cy="5029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55080" y="257860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C222B"/>
                </a:solidFill>
                <a:latin typeface="Playfair Display"/>
              </a:rPr>
              <a:t>Contrôleurs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18504" y="29992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0"/>
                </a:solidFill>
                <a:latin typeface="Roboto"/>
              </a:rPr>
              <a:t>8 domaines métier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99832" y="27432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CF5858"/>
                </a:solidFill>
                <a:latin typeface="Roboto"/>
              </a:rPr>
              <a:t>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19288" y="2286000"/>
            <a:ext cx="1572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19288" y="2286000"/>
            <a:ext cx="1572768" cy="5029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65592" y="257860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C222B"/>
                </a:solidFill>
                <a:latin typeface="Playfair Display"/>
              </a:rPr>
              <a:t>Modèles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29016" y="29992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0"/>
                </a:solidFill>
                <a:latin typeface="Roboto"/>
              </a:rPr>
              <a:t>Sequelize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10344" y="2743200"/>
            <a:ext cx="228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0" i="0">
                <a:solidFill>
                  <a:srgbClr val="CF5858"/>
                </a:solidFill>
                <a:latin typeface="Roboto"/>
              </a:rPr>
              <a:t>›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829800" y="2286000"/>
            <a:ext cx="1572768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829800" y="2286000"/>
            <a:ext cx="1572768" cy="50292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76104" y="2578608"/>
            <a:ext cx="1325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50" b="1" i="0">
                <a:solidFill>
                  <a:srgbClr val="1C222B"/>
                </a:solidFill>
                <a:latin typeface="Playfair Display"/>
              </a:rPr>
              <a:t>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39528" y="2999232"/>
            <a:ext cx="1371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5A6470"/>
                </a:solidFill>
                <a:latin typeface="Roboto"/>
              </a:rPr>
              <a:t>13 tables</a:t>
            </a:r>
          </a:p>
        </p:txBody>
      </p:sp>
      <p:sp>
        <p:nvSpPr>
          <p:cNvPr id="37" name="Diamond 36"/>
          <p:cNvSpPr/>
          <p:nvPr/>
        </p:nvSpPr>
        <p:spPr>
          <a:xfrm>
            <a:off x="960120" y="422452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52728" y="4160520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C222B"/>
                </a:solidFill>
                <a:latin typeface="Roboto"/>
              </a:rPr>
              <a:t>Séparation des responsabilités : un contrôleur par domaine (auth, compte, événement, commentaire, chat, admin, utilisateur, général).</a:t>
            </a:r>
          </a:p>
        </p:txBody>
      </p:sp>
      <p:sp>
        <p:nvSpPr>
          <p:cNvPr id="39" name="Diamond 38"/>
          <p:cNvSpPr/>
          <p:nvPr/>
        </p:nvSpPr>
        <p:spPr>
          <a:xfrm>
            <a:off x="960120" y="491947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52728" y="4855464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C222B"/>
                </a:solidFill>
                <a:latin typeface="Roboto"/>
              </a:rPr>
              <a:t>Les vues EJS ne contiennent aucune logique métier : elles reçoivent des données déjà préparées.</a:t>
            </a:r>
          </a:p>
        </p:txBody>
      </p:sp>
      <p:sp>
        <p:nvSpPr>
          <p:cNvPr id="41" name="Diamond 40"/>
          <p:cNvSpPr/>
          <p:nvPr/>
        </p:nvSpPr>
        <p:spPr>
          <a:xfrm>
            <a:off x="960120" y="561441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52728" y="5550408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C222B"/>
                </a:solidFill>
                <a:latin typeface="Roboto"/>
              </a:rPr>
              <a:t>socket.js isole l'intégralité de la logique temps réel.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7 — 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Le modèle relationnel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A6470"/>
                </a:solidFill>
                <a:latin typeface="Roboto"/>
              </a:rPr>
              <a:t>Dix tables, la table « user » au centre.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86000"/>
            <a:ext cx="25420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286000"/>
            <a:ext cx="2542032" cy="50292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C222B"/>
                </a:solidFill>
                <a:latin typeface="Playfair Display"/>
              </a:rPr>
              <a:t>Entités métier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9718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user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event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comment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interest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affinity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286000"/>
            <a:ext cx="25420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2286000"/>
            <a:ext cx="2542032" cy="5029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4904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C222B"/>
                </a:solidFill>
                <a:latin typeface="Playfair Display"/>
              </a:rPr>
              <a:t>Jointures (N-N)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29718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user_event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user_interest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user_affinity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2286000"/>
            <a:ext cx="25420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2286000"/>
            <a:ext cx="2542032" cy="5029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C222B"/>
                </a:solidFill>
                <a:latin typeface="Playfair Display"/>
              </a:rPr>
              <a:t>Mise en relation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9718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user_contactrequest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user_relationship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6840" y="2286000"/>
            <a:ext cx="2542032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06840" y="2286000"/>
            <a:ext cx="2542032" cy="50292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2514600"/>
            <a:ext cx="21945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1C222B"/>
                </a:solidFill>
                <a:latin typeface="Playfair Display"/>
              </a:rPr>
              <a:t>Temps réel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971800"/>
            <a:ext cx="21945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message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notification</a:t>
            </a:r>
          </a:p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A6470"/>
                </a:solidFill>
                <a:latin typeface="Consolas"/>
              </a:rPr>
              <a:t>user_photo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709160"/>
            <a:ext cx="10744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709160"/>
            <a:ext cx="45720" cy="96012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93776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470"/>
                </a:solidFill>
                <a:latin typeface="Roboto"/>
              </a:rPr>
              <a:t>Le point délicat : deux tables réflexives distinguent la demande en attente de la relation établie. La contrainte est portée par la structure, non par le code.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8 — FRONT-END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Interfaces : EJS et SCSS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13</a:t>
            </a:r>
          </a:p>
        </p:txBody>
      </p:sp>
      <p:sp>
        <p:nvSpPr>
          <p:cNvPr id="8" name="Diamond 7"/>
          <p:cNvSpPr/>
          <p:nvPr/>
        </p:nvSpPr>
        <p:spPr>
          <a:xfrm>
            <a:off x="96012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6596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Rendu côté serveur : le HTML est produit avec ses données.</a:t>
            </a:r>
          </a:p>
        </p:txBody>
      </p:sp>
      <p:sp>
        <p:nvSpPr>
          <p:cNvPr id="10" name="Diamond 9"/>
          <p:cNvSpPr/>
          <p:nvPr/>
        </p:nvSpPr>
        <p:spPr>
          <a:xfrm>
            <a:off x="960120" y="272491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660904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Un gabarit commun et des fragments réutilisables : en-tête, pied de page, navigation, cartes d'événement, formulaires, alertes.</a:t>
            </a:r>
          </a:p>
        </p:txBody>
      </p:sp>
      <p:sp>
        <p:nvSpPr>
          <p:cNvPr id="12" name="Diamond 11"/>
          <p:cNvSpPr/>
          <p:nvPr/>
        </p:nvSpPr>
        <p:spPr>
          <a:xfrm>
            <a:off x="960120" y="369417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630168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Zéro duplication : une correction se répercute partout.</a:t>
            </a:r>
          </a:p>
        </p:txBody>
      </p:sp>
      <p:sp>
        <p:nvSpPr>
          <p:cNvPr id="14" name="Diamond 13"/>
          <p:cNvSpPr/>
          <p:nvPr/>
        </p:nvSpPr>
        <p:spPr>
          <a:xfrm>
            <a:off x="960120" y="438912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325112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SCSS organisé par composants, compilé vers un CSS unique.</a:t>
            </a:r>
          </a:p>
        </p:txBody>
      </p:sp>
      <p:sp>
        <p:nvSpPr>
          <p:cNvPr id="16" name="Diamond 15"/>
          <p:cNvSpPr/>
          <p:nvPr/>
        </p:nvSpPr>
        <p:spPr>
          <a:xfrm>
            <a:off x="960120" y="508406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5020056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Scripts client légers : filtres, modales, menu, connexion Socket.io.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65960"/>
            <a:ext cx="4892040" cy="3200400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1965960"/>
            <a:ext cx="45720" cy="320040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14884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FDB5A"/>
                </a:solidFill>
                <a:latin typeface="Roboto"/>
              </a:rPr>
              <a:t>ORGANISATION DES VUES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496312"/>
            <a:ext cx="4434840" cy="2532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app/views/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├── layout.ejs        gabarit commun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├── partials/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│   ├── header.ejs    en-tête + badges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│   ├── footer.ejs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│   ├── eventCard.ejs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│   └── alerts.ejs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└── meeting.ejs …     pages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9 —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Routage et contrôle d'accès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14</a:t>
            </a:r>
          </a:p>
        </p:txBody>
      </p:sp>
      <p:sp>
        <p:nvSpPr>
          <p:cNvPr id="8" name="Diamond 7"/>
          <p:cNvSpPr/>
          <p:nvPr/>
        </p:nvSpPr>
        <p:spPr>
          <a:xfrm>
            <a:off x="96012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6596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router.js : table de routage centrale, 54 routes.</a:t>
            </a:r>
          </a:p>
        </p:txBody>
      </p:sp>
      <p:sp>
        <p:nvSpPr>
          <p:cNvPr id="10" name="Diamond 9"/>
          <p:cNvSpPr/>
          <p:nvPr/>
        </p:nvSpPr>
        <p:spPr>
          <a:xfrm>
            <a:off x="960120" y="25054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441448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Chaque route traverse ses middlewares avant son contrôleur.</a:t>
            </a:r>
          </a:p>
        </p:txBody>
      </p:sp>
      <p:sp>
        <p:nvSpPr>
          <p:cNvPr id="12" name="Diamond 11"/>
          <p:cNvSpPr/>
          <p:nvPr/>
        </p:nvSpPr>
        <p:spPr>
          <a:xfrm>
            <a:off x="960120" y="320040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136392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isNotLogged protège les pages privées et mémorise l'adresse demandée.</a:t>
            </a:r>
          </a:p>
        </p:txBody>
      </p:sp>
      <p:sp>
        <p:nvSpPr>
          <p:cNvPr id="14" name="Diamond 13"/>
          <p:cNvSpPr/>
          <p:nvPr/>
        </p:nvSpPr>
        <p:spPr>
          <a:xfrm>
            <a:off x="960120" y="389534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831336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isAdmin revérifie le rôle en base à chaque requête, et non dans la session.</a:t>
            </a:r>
          </a:p>
        </p:txBody>
      </p:sp>
      <p:sp>
        <p:nvSpPr>
          <p:cNvPr id="16" name="Diamond 15"/>
          <p:cNvSpPr/>
          <p:nvPr/>
        </p:nvSpPr>
        <p:spPr>
          <a:xfrm>
            <a:off x="960120" y="459028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52628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Un accès refusé renvoie un statut 403 et une page dédiée.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65960"/>
            <a:ext cx="4892040" cy="2743200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1965960"/>
            <a:ext cx="45720" cy="274320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14884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FDB5A"/>
                </a:solidFill>
                <a:latin typeface="Roboto"/>
              </a:rPr>
              <a:t>LA SÉCURITÉ SE LIT DANS LE ROUTEUR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496312"/>
            <a:ext cx="4434840" cy="2075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router.get('/rencontre',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identification.isNotLogged,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mainController.meeting);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router.get('/admin',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identification.isNotLogged,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identification.isAdmin,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adminController.home);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9 —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La sécurité, un fil rouge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011680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45720" cy="1481328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212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222B"/>
                </a:solidFill>
                <a:latin typeface="Playfair Display"/>
              </a:rPr>
              <a:t>Mots de passe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15184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470"/>
                </a:solidFill>
                <a:latin typeface="Roboto"/>
              </a:rPr>
              <a:t>bcrypt ; 12 caractères minimum avec majuscule, minuscule, chiffre et symbole.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40" y="2011680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20440" y="2011680"/>
            <a:ext cx="45720" cy="1481328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2212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222B"/>
                </a:solidFill>
                <a:latin typeface="Playfair Display"/>
              </a:rPr>
              <a:t>Énumération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615184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470"/>
                </a:solidFill>
                <a:latin typeface="Roboto"/>
              </a:rPr>
              <a:t>Message d'erreur identique que l'adresse existe ou non.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011680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45720" cy="1481328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212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222B"/>
                </a:solidFill>
                <a:latin typeface="Playfair Display"/>
              </a:rPr>
              <a:t>Empreinte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15184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470"/>
                </a:solidFill>
                <a:latin typeface="Roboto"/>
              </a:rPr>
              <a:t>La requête d'authentification ne retourne que les colonnes utiles.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2011680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2011680"/>
            <a:ext cx="45720" cy="1481328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2212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222B"/>
                </a:solidFill>
                <a:latin typeface="Playfair Display"/>
              </a:rPr>
              <a:t>Injection SQL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615184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470"/>
                </a:solidFill>
                <a:latin typeface="Roboto"/>
              </a:rPr>
              <a:t>Requêtes systématiquement paramétrées par l'ORM.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3703320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3703320"/>
            <a:ext cx="45720" cy="1481328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222B"/>
                </a:solidFill>
                <a:latin typeface="Playfair Display"/>
              </a:rPr>
              <a:t>Sessions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306824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470"/>
                </a:solidFill>
                <a:latin typeface="Roboto"/>
              </a:rPr>
              <a:t>Stockées en base ; cookies httpOnly, sameSite, secure.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3703320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20440" y="3703320"/>
            <a:ext cx="45720" cy="1481328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4904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222B"/>
                </a:solidFill>
                <a:latin typeface="Playfair Display"/>
              </a:rPr>
              <a:t>Téléversement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49040" y="4306824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470"/>
                </a:solidFill>
                <a:latin typeface="Roboto"/>
              </a:rPr>
              <a:t>Types MIME filtrés, 5 Mo maximum, nom régénéré côté serveur.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3703320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3640" y="3703320"/>
            <a:ext cx="45720" cy="1481328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222B"/>
                </a:solidFill>
                <a:latin typeface="Playfair Display"/>
              </a:rPr>
              <a:t>Messagerie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4306824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470"/>
                </a:solidFill>
                <a:latin typeface="Roboto"/>
              </a:rPr>
              <a:t>La relation est revérifiée en base avant chaque message.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06840" y="3703320"/>
            <a:ext cx="2542032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006840" y="3703320"/>
            <a:ext cx="45720" cy="1481328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90448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1C222B"/>
                </a:solidFill>
                <a:latin typeface="Playfair Display"/>
              </a:rPr>
              <a:t>Secrets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4306824"/>
            <a:ext cx="2212848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A6470"/>
                </a:solidFill>
                <a:latin typeface="Roboto"/>
              </a:rPr>
              <a:t>Variables d'environnement, exclues du dépôt Git.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9 —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Le cœur fonctionnel : la mise en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16</a:t>
            </a:r>
          </a:p>
        </p:txBody>
      </p:sp>
      <p:sp>
        <p:nvSpPr>
          <p:cNvPr id="8" name="Diamond 7"/>
          <p:cNvSpPr/>
          <p:nvPr/>
        </p:nvSpPr>
        <p:spPr>
          <a:xfrm>
            <a:off x="96012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6596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Le membre ne voit que les profils correspondant à SA préférence…</a:t>
            </a:r>
          </a:p>
        </p:txBody>
      </p:sp>
      <p:sp>
        <p:nvSpPr>
          <p:cNvPr id="10" name="Diamond 9"/>
          <p:cNvSpPr/>
          <p:nvPr/>
        </p:nvSpPr>
        <p:spPr>
          <a:xfrm>
            <a:off x="960120" y="272491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660904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…et uniquement ceux dont la préférence accepte SON genre.</a:t>
            </a:r>
          </a:p>
        </p:txBody>
      </p:sp>
      <p:sp>
        <p:nvSpPr>
          <p:cNvPr id="12" name="Diamond 11"/>
          <p:cNvSpPr/>
          <p:nvPr/>
        </p:nvSpPr>
        <p:spPr>
          <a:xfrm>
            <a:off x="960120" y="34198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355848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La compatibilité est donc vérifiée dans les deux sens.</a:t>
            </a:r>
          </a:p>
        </p:txBody>
      </p:sp>
      <p:sp>
        <p:nvSpPr>
          <p:cNvPr id="14" name="Diamond 13"/>
          <p:cNvSpPr/>
          <p:nvPr/>
        </p:nvSpPr>
        <p:spPr>
          <a:xfrm>
            <a:off x="960120" y="411480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4050792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Sont exclus : soi-même et les contacts déjà établis.</a:t>
            </a:r>
          </a:p>
        </p:txBody>
      </p:sp>
      <p:sp>
        <p:nvSpPr>
          <p:cNvPr id="16" name="Diamond 15"/>
          <p:cNvSpPr/>
          <p:nvPr/>
        </p:nvSpPr>
        <p:spPr>
          <a:xfrm>
            <a:off x="960120" y="480974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745736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Le mot de passe est systématiquement retiré des résultats.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65960"/>
            <a:ext cx="4892040" cy="2926080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1965960"/>
            <a:ext cx="45720" cy="292608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14884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FDB5A"/>
                </a:solidFill>
                <a:latin typeface="Roboto"/>
              </a:rPr>
              <a:t>mainController.meeting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496312"/>
            <a:ext cx="4434840" cy="2258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const users = await User.findAll({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where: {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  id: { [Op.notIn]: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      [...contactIds, userId] },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  ...genderFilter,    // ma préférence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  ...acceptsMeFilter, // réciprocité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},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attributes: { exclude: ['password'] }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9 — BACK-END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De la demande à la 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94560"/>
            <a:ext cx="2423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2423160" cy="50292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4871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1C222B"/>
                </a:solidFill>
                <a:latin typeface="Playfair Display"/>
              </a:rPr>
              <a:t>A demande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9260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Roboto"/>
              </a:rPr>
              <a:t>une entrée dans</a:t>
            </a:r>
          </a:p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Roboto"/>
              </a:rPr>
              <a:t>user_contactrequest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27832" y="2788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0">
                <a:solidFill>
                  <a:srgbClr val="CF5858"/>
                </a:solidFill>
                <a:latin typeface="Roboto"/>
              </a:rPr>
              <a:t>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194560"/>
            <a:ext cx="2423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20440" y="2194560"/>
            <a:ext cx="2423160" cy="5029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03320" y="24871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1C222B"/>
                </a:solidFill>
                <a:latin typeface="Playfair Display"/>
              </a:rPr>
              <a:t>B est notifié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6744" y="29260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Roboto"/>
              </a:rPr>
              <a:t>en temps réel,</a:t>
            </a:r>
          </a:p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Roboto"/>
              </a:rPr>
              <a:t>et la trace est persistée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71032" y="2788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0">
                <a:solidFill>
                  <a:srgbClr val="CF5858"/>
                </a:solidFill>
                <a:latin typeface="Roboto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2194560"/>
            <a:ext cx="2423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2194560"/>
            <a:ext cx="2423160" cy="50292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24871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1C222B"/>
                </a:solidFill>
                <a:latin typeface="Playfair Display"/>
              </a:rPr>
              <a:t>B accepte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29260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Roboto"/>
              </a:rPr>
              <a:t>la demande</a:t>
            </a:r>
          </a:p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Roboto"/>
              </a:rPr>
              <a:t>est consommée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14232" y="27889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i="0">
                <a:solidFill>
                  <a:srgbClr val="CF5858"/>
                </a:solidFill>
                <a:latin typeface="Roboto"/>
              </a:rPr>
              <a:t>›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2194560"/>
            <a:ext cx="24231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06840" y="2194560"/>
            <a:ext cx="2423160" cy="5029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248716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50" b="1" i="0">
                <a:solidFill>
                  <a:srgbClr val="1C222B"/>
                </a:solidFill>
                <a:latin typeface="Playfair Display"/>
              </a:rPr>
              <a:t>Relation établie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2926080"/>
            <a:ext cx="214884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Roboto"/>
              </a:rPr>
              <a:t>deux lignes symétriques</a:t>
            </a:r>
          </a:p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A6470"/>
                </a:solidFill>
                <a:latin typeface="Roboto"/>
              </a:rPr>
              <a:t>dans user_relationship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251960"/>
            <a:ext cx="107442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251960"/>
            <a:ext cx="45720" cy="96012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498848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5A6470"/>
                </a:solidFill>
                <a:latin typeface="Roboto"/>
              </a:rPr>
              <a:t>Ce n'est qu'une fois la relation établie que deux membres peuvent s'écrire. La symétrie des deux lignes simplifie ensuite toutes les vérifications.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10 —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Socket.io : l'apport de la reprise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18</a:t>
            </a:r>
          </a:p>
        </p:txBody>
      </p:sp>
      <p:sp>
        <p:nvSpPr>
          <p:cNvPr id="8" name="Diamond 7"/>
          <p:cNvSpPr/>
          <p:nvPr/>
        </p:nvSpPr>
        <p:spPr>
          <a:xfrm>
            <a:off x="96012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6596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Technologie absente de la version initiale : c'est l'apport central de la reprise.</a:t>
            </a:r>
          </a:p>
        </p:txBody>
      </p:sp>
      <p:sp>
        <p:nvSpPr>
          <p:cNvPr id="10" name="Diamond 9"/>
          <p:cNvSpPr/>
          <p:nvPr/>
        </p:nvSpPr>
        <p:spPr>
          <a:xfrm>
            <a:off x="960120" y="272491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660904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Communication bidirectionnelle entre le navigateur et le serveur.</a:t>
            </a:r>
          </a:p>
        </p:txBody>
      </p:sp>
      <p:sp>
        <p:nvSpPr>
          <p:cNvPr id="12" name="Diamond 11"/>
          <p:cNvSpPr/>
          <p:nvPr/>
        </p:nvSpPr>
        <p:spPr>
          <a:xfrm>
            <a:off x="960120" y="34198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355848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Deux nouveaux modèles : Message et Notification.</a:t>
            </a:r>
          </a:p>
        </p:txBody>
      </p:sp>
      <p:sp>
        <p:nvSpPr>
          <p:cNvPr id="14" name="Diamond 13"/>
          <p:cNvSpPr/>
          <p:nvPr/>
        </p:nvSpPr>
        <p:spPr>
          <a:xfrm>
            <a:off x="960120" y="389534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831336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Chaque membre rejoint un salon privé « user:&lt;id&gt; ».</a:t>
            </a:r>
          </a:p>
        </p:txBody>
      </p:sp>
      <p:sp>
        <p:nvSpPr>
          <p:cNvPr id="16" name="Diamond 15"/>
          <p:cNvSpPr/>
          <p:nvPr/>
        </p:nvSpPr>
        <p:spPr>
          <a:xfrm>
            <a:off x="960120" y="459028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52628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0">
                <a:solidFill>
                  <a:srgbClr val="1C222B"/>
                </a:solidFill>
                <a:latin typeface="Roboto"/>
              </a:rPr>
              <a:t>Technologie apprise en autonomie pour l'occasion.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1965960"/>
            <a:ext cx="4892040" cy="2743200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75120" y="1965960"/>
            <a:ext cx="45720" cy="274320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14884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FDB5A"/>
                </a:solidFill>
                <a:latin typeface="Roboto"/>
              </a:rPr>
              <a:t>AUTHENTIFICATION DES SOCKETS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496312"/>
            <a:ext cx="4434840" cy="2075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io.use((socket, next) =&gt; {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sessionMiddleware(socket.request, {}, next);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});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/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io.use((socket, next) =&gt; {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const id = socket.request.session?.userId;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if (!id) return next(new Error("Non authentifié"));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socket.userId = id;   // jamais reçu du client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next();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10 — TEMPS RÉEL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Un chat privé, sécurisé côté serveur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A6470"/>
                </a:solidFill>
                <a:latin typeface="Roboto"/>
              </a:rPr>
              <a:t>Sur une liaison persistante, l'identifiant de l'émetteur ne peut pas venir du client : il serait falsifiable.</a:t>
            </a:r>
          </a:p>
        </p:txBody>
      </p:sp>
      <p:sp>
        <p:nvSpPr>
          <p:cNvPr id="9" name="Diamond 8"/>
          <p:cNvSpPr/>
          <p:nvPr/>
        </p:nvSpPr>
        <p:spPr>
          <a:xfrm>
            <a:off x="960120" y="24871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52728" y="242316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C222B"/>
                </a:solidFill>
                <a:latin typeface="Roboto"/>
              </a:rPr>
              <a:t>L'identité est lue dans la session Express partagée.</a:t>
            </a:r>
          </a:p>
        </p:txBody>
      </p:sp>
      <p:sp>
        <p:nvSpPr>
          <p:cNvPr id="11" name="Diamond 10"/>
          <p:cNvSpPr/>
          <p:nvPr/>
        </p:nvSpPr>
        <p:spPr>
          <a:xfrm>
            <a:off x="960120" y="318211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52728" y="3118104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C222B"/>
                </a:solidFill>
                <a:latin typeface="Roboto"/>
              </a:rPr>
              <a:t>Une socket sans session valide est refusée d'emblée.</a:t>
            </a:r>
          </a:p>
        </p:txBody>
      </p:sp>
      <p:sp>
        <p:nvSpPr>
          <p:cNvPr id="13" name="Diamond 12"/>
          <p:cNvSpPr/>
          <p:nvPr/>
        </p:nvSpPr>
        <p:spPr>
          <a:xfrm>
            <a:off x="960120" y="38770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52728" y="3813048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C222B"/>
                </a:solidFill>
                <a:latin typeface="Roboto"/>
              </a:rPr>
              <a:t>Les identifiants invalides, l'auto-envoi et les messages vides sont écartés.</a:t>
            </a:r>
          </a:p>
        </p:txBody>
      </p:sp>
      <p:sp>
        <p:nvSpPr>
          <p:cNvPr id="15" name="Diamond 14"/>
          <p:cNvSpPr/>
          <p:nvPr/>
        </p:nvSpPr>
        <p:spPr>
          <a:xfrm>
            <a:off x="960120" y="457200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4507992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C222B"/>
                </a:solidFill>
                <a:latin typeface="Roboto"/>
              </a:rPr>
              <a:t>Le contenu est borné à 2 000 caractères.</a:t>
            </a:r>
          </a:p>
        </p:txBody>
      </p:sp>
      <p:sp>
        <p:nvSpPr>
          <p:cNvPr id="17" name="Diamond 16"/>
          <p:cNvSpPr/>
          <p:nvPr/>
        </p:nvSpPr>
        <p:spPr>
          <a:xfrm>
            <a:off x="960120" y="504748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52728" y="4983480"/>
            <a:ext cx="5285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1C222B"/>
                </a:solidFill>
                <a:latin typeface="Roboto"/>
              </a:rPr>
              <a:t>La relation est vérifiée en base avant tout enregistrement.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2423160"/>
            <a:ext cx="4892040" cy="2377440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675120" y="2423160"/>
            <a:ext cx="45720" cy="237744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0" y="2606040"/>
            <a:ext cx="4434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 i="0">
                <a:solidFill>
                  <a:srgbClr val="FFDB5A"/>
                </a:solidFill>
                <a:latin typeface="Roboto"/>
              </a:rPr>
              <a:t>LE CONTRÔLE EST REJOUÉ À CHAQUE MESSAGE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953512"/>
            <a:ext cx="4434840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// le destinataire est-il bien un contact ?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const rel = await User_Relationship.findOne({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where: { user_id: socket.userId,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           contact_id: recipientId }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});</a:t>
            </a:r>
          </a:p>
          <a:p>
            <a:pPr algn="l">
              <a:lnSpc>
                <a:spcPct val="132000"/>
              </a:lnSpc>
            </a:pPr>
            <a:r>
              <a:rPr sz="1100" b="0" i="0">
                <a:solidFill>
                  <a:srgbClr val="E8ECF0"/>
                </a:solidFill>
                <a:latin typeface="Consolas"/>
              </a:rPr>
              <a:t>if (!rel) return;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11 — CONFORMITÉ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Accessibilité (RGAA) et données personnelles (RGPD)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5212080" cy="54864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Accessibilité — RGAA</a:t>
            </a:r>
          </a:p>
        </p:txBody>
      </p:sp>
      <p:sp>
        <p:nvSpPr>
          <p:cNvPr id="11" name="Diamond 10"/>
          <p:cNvSpPr/>
          <p:nvPr/>
        </p:nvSpPr>
        <p:spPr>
          <a:xfrm>
            <a:off x="1051560" y="267004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606040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Contrastes marqués, typographie de grande taille</a:t>
            </a:r>
          </a:p>
        </p:txBody>
      </p:sp>
      <p:sp>
        <p:nvSpPr>
          <p:cNvPr id="13" name="Diamond 12"/>
          <p:cNvSpPr/>
          <p:nvPr/>
        </p:nvSpPr>
        <p:spPr>
          <a:xfrm>
            <a:off x="1051560" y="336499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300984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Étiquettes explicites sur tous les champs</a:t>
            </a:r>
          </a:p>
        </p:txBody>
      </p:sp>
      <p:sp>
        <p:nvSpPr>
          <p:cNvPr id="15" name="Diamond 14"/>
          <p:cNvSpPr/>
          <p:nvPr/>
        </p:nvSpPr>
        <p:spPr>
          <a:xfrm>
            <a:off x="1051560" y="376732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3703320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Zones cliquables généreuses, parcours courts</a:t>
            </a:r>
          </a:p>
        </p:txBody>
      </p:sp>
      <p:sp>
        <p:nvSpPr>
          <p:cNvPr id="17" name="Diamond 16"/>
          <p:cNvSpPr/>
          <p:nvPr/>
        </p:nvSpPr>
        <p:spPr>
          <a:xfrm>
            <a:off x="1051560" y="446227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4398264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Rendu serveur : le contenu s'affiche sans JavaScript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262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CF5858"/>
                </a:solidFill>
                <a:latin typeface="Roboto"/>
              </a:rPr>
              <a:t>Reste à faire : un audit RGAA formel et une déclaration d'accessibilité.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1920240"/>
            <a:ext cx="5212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1920240"/>
            <a:ext cx="5212080" cy="54864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1488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Données personnelles — RGPD</a:t>
            </a:r>
          </a:p>
        </p:txBody>
      </p:sp>
      <p:sp>
        <p:nvSpPr>
          <p:cNvPr id="23" name="Diamond 22"/>
          <p:cNvSpPr/>
          <p:nvPr/>
        </p:nvSpPr>
        <p:spPr>
          <a:xfrm>
            <a:off x="6812280" y="267004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2606040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Collecte limitée au nécessaire, base légale : le consentement</a:t>
            </a:r>
          </a:p>
        </p:txBody>
      </p:sp>
      <p:sp>
        <p:nvSpPr>
          <p:cNvPr id="25" name="Diamond 24"/>
          <p:cNvSpPr/>
          <p:nvPr/>
        </p:nvSpPr>
        <p:spPr>
          <a:xfrm>
            <a:off x="6812280" y="336499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04888" y="3300984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Accès et rectification depuis « Mon compte »</a:t>
            </a:r>
          </a:p>
        </p:txBody>
      </p:sp>
      <p:sp>
        <p:nvSpPr>
          <p:cNvPr id="27" name="Diamond 26"/>
          <p:cNvSpPr/>
          <p:nvPr/>
        </p:nvSpPr>
        <p:spPr>
          <a:xfrm>
            <a:off x="6812280" y="405993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04888" y="3995928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Suppression du compte à l'initiative du membre</a:t>
            </a:r>
          </a:p>
        </p:txBody>
      </p:sp>
      <p:sp>
        <p:nvSpPr>
          <p:cNvPr id="29" name="Diamond 28"/>
          <p:cNvSpPr/>
          <p:nvPr/>
        </p:nvSpPr>
        <p:spPr>
          <a:xfrm>
            <a:off x="6812280" y="475488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04888" y="4690872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Un seul cookie, strictement nécessaire ; aucun traceur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12280" y="45262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CF5858"/>
                </a:solidFill>
                <a:latin typeface="Roboto"/>
              </a:rPr>
              <a:t>Reste à faire : mentions légales, anonymisation à la suppression, export des données.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486400"/>
            <a:ext cx="106070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1">
                <a:solidFill>
                  <a:srgbClr val="1C222B"/>
                </a:solidFill>
                <a:latin typeface="Roboto"/>
              </a:rPr>
              <a:t>Concevoir pour un public senior fait de l'accessibilité une exigence de premier rang, et non une contrainte ajoutée.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12 —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Le back-office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21</a:t>
            </a:r>
          </a:p>
        </p:txBody>
      </p:sp>
      <p:sp>
        <p:nvSpPr>
          <p:cNvPr id="8" name="Diamond 7"/>
          <p:cNvSpPr/>
          <p:nvPr/>
        </p:nvSpPr>
        <p:spPr>
          <a:xfrm>
            <a:off x="96012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65960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Espace protégé par le middleware isAdmin : le rôle est vérifié en base, pas dans la session.</a:t>
            </a:r>
          </a:p>
        </p:txBody>
      </p:sp>
      <p:sp>
        <p:nvSpPr>
          <p:cNvPr id="10" name="Diamond 9"/>
          <p:cNvSpPr/>
          <p:nvPr/>
        </p:nvSpPr>
        <p:spPr>
          <a:xfrm>
            <a:off x="960120" y="25054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441448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Tableau de bord assorti de statistiques.</a:t>
            </a:r>
          </a:p>
        </p:txBody>
      </p:sp>
      <p:sp>
        <p:nvSpPr>
          <p:cNvPr id="12" name="Diamond 11"/>
          <p:cNvSpPr/>
          <p:nvPr/>
        </p:nvSpPr>
        <p:spPr>
          <a:xfrm>
            <a:off x="960120" y="298094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916936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Gestion centralisée des membres, des événements et des commentaires.</a:t>
            </a:r>
          </a:p>
        </p:txBody>
      </p:sp>
      <p:sp>
        <p:nvSpPr>
          <p:cNvPr id="14" name="Diamond 13"/>
          <p:cNvSpPr/>
          <p:nvPr/>
        </p:nvSpPr>
        <p:spPr>
          <a:xfrm>
            <a:off x="960120" y="345643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392424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Gestion des référentiels : centres d'intérêt et affinités, en création, modification et suppression.</a:t>
            </a:r>
          </a:p>
        </p:txBody>
      </p:sp>
      <p:sp>
        <p:nvSpPr>
          <p:cNvPr id="16" name="Diamond 15"/>
          <p:cNvSpPr/>
          <p:nvPr/>
        </p:nvSpPr>
        <p:spPr>
          <a:xfrm>
            <a:off x="960120" y="415137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52728" y="4087368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Un accès non autorisé renvoie un statut 403 et une page d'erreur dédiée.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5176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 i="0">
                <a:solidFill>
                  <a:srgbClr val="FFFFFF"/>
                </a:solidFill>
                <a:latin typeface="Playfair Display"/>
              </a:rPr>
              <a:t>Démonstration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703320"/>
            <a:ext cx="1371600" cy="41148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069080"/>
            <a:ext cx="9601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2CC"/>
                </a:solidFill>
                <a:latin typeface="Roboto"/>
              </a:rPr>
              <a:t>Inscription  ·  Profils et mise en relation  ·  Événement et commentaires  ·  Chat et notifications en temps réel  ·  Back-office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13 — 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Difficultés rencontrées et axes d'amélioration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5212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5212080" cy="54864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488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Difficultés</a:t>
            </a:r>
          </a:p>
        </p:txBody>
      </p:sp>
      <p:sp>
        <p:nvSpPr>
          <p:cNvPr id="11" name="Diamond 10"/>
          <p:cNvSpPr/>
          <p:nvPr/>
        </p:nvSpPr>
        <p:spPr>
          <a:xfrm>
            <a:off x="1051560" y="267004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44168" y="2606040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Partager la session entre Express et Socket.io</a:t>
            </a:r>
          </a:p>
        </p:txBody>
      </p:sp>
      <p:sp>
        <p:nvSpPr>
          <p:cNvPr id="13" name="Diamond 12"/>
          <p:cNvSpPr/>
          <p:nvPr/>
        </p:nvSpPr>
        <p:spPr>
          <a:xfrm>
            <a:off x="1051560" y="336499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8" y="3300984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Modéliser la mise en relation et sa réciprocité</a:t>
            </a:r>
          </a:p>
        </p:txBody>
      </p:sp>
      <p:sp>
        <p:nvSpPr>
          <p:cNvPr id="15" name="Diamond 14"/>
          <p:cNvSpPr/>
          <p:nvPr/>
        </p:nvSpPr>
        <p:spPr>
          <a:xfrm>
            <a:off x="1051560" y="405993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44168" y="3995928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Rendre les sessions résistantes au redémarrage</a:t>
            </a:r>
          </a:p>
        </p:txBody>
      </p:sp>
      <p:sp>
        <p:nvSpPr>
          <p:cNvPr id="17" name="Diamond 16"/>
          <p:cNvSpPr/>
          <p:nvPr/>
        </p:nvSpPr>
        <p:spPr>
          <a:xfrm>
            <a:off x="1051560" y="475488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44168" y="4690872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Reprendre seul un projet d'équipe : tout comprendre avant d'étendre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37960" y="1920240"/>
            <a:ext cx="521208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37960" y="1920240"/>
            <a:ext cx="5212080" cy="54864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12280" y="214884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1" i="0">
                <a:solidFill>
                  <a:srgbClr val="1C222B"/>
                </a:solidFill>
                <a:latin typeface="Playfair Display"/>
              </a:rPr>
              <a:t>Axes d'amélioration</a:t>
            </a:r>
          </a:p>
        </p:txBody>
      </p:sp>
      <p:sp>
        <p:nvSpPr>
          <p:cNvPr id="22" name="Diamond 21"/>
          <p:cNvSpPr/>
          <p:nvPr/>
        </p:nvSpPr>
        <p:spPr>
          <a:xfrm>
            <a:off x="6812280" y="267004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04888" y="2606040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Documenter et réaliser le déploiement en production</a:t>
            </a:r>
          </a:p>
        </p:txBody>
      </p:sp>
      <p:sp>
        <p:nvSpPr>
          <p:cNvPr id="24" name="Diamond 23"/>
          <p:cNvSpPr/>
          <p:nvPr/>
        </p:nvSpPr>
        <p:spPr>
          <a:xfrm>
            <a:off x="6812280" y="3364992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04888" y="3300984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Tests automatisés et intégration continue</a:t>
            </a:r>
          </a:p>
        </p:txBody>
      </p:sp>
      <p:sp>
        <p:nvSpPr>
          <p:cNvPr id="26" name="Diamond 25"/>
          <p:cNvSpPr/>
          <p:nvPr/>
        </p:nvSpPr>
        <p:spPr>
          <a:xfrm>
            <a:off x="6812280" y="378561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4888" y="3721608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Suggestion enrichie par les intérêts et affinités</a:t>
            </a:r>
          </a:p>
        </p:txBody>
      </p:sp>
      <p:sp>
        <p:nvSpPr>
          <p:cNvPr id="28" name="Diamond 27"/>
          <p:cNvSpPr/>
          <p:nvPr/>
        </p:nvSpPr>
        <p:spPr>
          <a:xfrm>
            <a:off x="6812280" y="448056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04888" y="4416552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Modération et signalement</a:t>
            </a:r>
          </a:p>
        </p:txBody>
      </p:sp>
      <p:sp>
        <p:nvSpPr>
          <p:cNvPr id="30" name="Diamond 29"/>
          <p:cNvSpPr/>
          <p:nvPr/>
        </p:nvSpPr>
        <p:spPr>
          <a:xfrm>
            <a:off x="6812280" y="490118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04888" y="4837176"/>
            <a:ext cx="43708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C222B"/>
                </a:solidFill>
                <a:latin typeface="Roboto"/>
              </a:rPr>
              <a:t>Conformité RGPD complète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82296" cy="530352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3272" y="5486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 i="0">
                <a:solidFill>
                  <a:srgbClr val="0D95AB"/>
                </a:solidFill>
                <a:latin typeface="Roboto"/>
              </a:rPr>
              <a:t>13 — BILAN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3272" y="841248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1C222B"/>
                </a:solidFill>
                <a:latin typeface="Playfair Display"/>
              </a:rP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91072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Senior Love  ·  Dossier Projet  ·  Axel Alvarez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2910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000" b="0" i="0">
                <a:solidFill>
                  <a:srgbClr val="5A6470"/>
                </a:solidFill>
                <a:latin typeface="Roboto"/>
              </a:rPr>
              <a:t>23</a:t>
            </a:r>
          </a:p>
        </p:txBody>
      </p:sp>
      <p:sp>
        <p:nvSpPr>
          <p:cNvPr id="8" name="Diamond 7"/>
          <p:cNvSpPr/>
          <p:nvPr/>
        </p:nvSpPr>
        <p:spPr>
          <a:xfrm>
            <a:off x="960120" y="2029968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1965960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Un projet complet, de la conception à la mise en œuvre, couvrant les deux blocs du titre.</a:t>
            </a:r>
          </a:p>
        </p:txBody>
      </p:sp>
      <p:sp>
        <p:nvSpPr>
          <p:cNvPr id="10" name="Diamond 9"/>
          <p:cNvSpPr/>
          <p:nvPr/>
        </p:nvSpPr>
        <p:spPr>
          <a:xfrm>
            <a:off x="960120" y="2505456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52728" y="2441448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Maquettage et interface dynamique, base de données relationnelle, logique métier et accès aux données — le tout sécurisé.</a:t>
            </a:r>
          </a:p>
        </p:txBody>
      </p:sp>
      <p:sp>
        <p:nvSpPr>
          <p:cNvPr id="12" name="Diamond 11"/>
          <p:cNvSpPr/>
          <p:nvPr/>
        </p:nvSpPr>
        <p:spPr>
          <a:xfrm>
            <a:off x="960120" y="3200400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3136392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La reprise en solo a été le vrai défi : s'approprier l'intégralité d'une base de code avant de l'enrichir.</a:t>
            </a:r>
          </a:p>
        </p:txBody>
      </p:sp>
      <p:sp>
        <p:nvSpPr>
          <p:cNvPr id="14" name="Diamond 13"/>
          <p:cNvSpPr/>
          <p:nvPr/>
        </p:nvSpPr>
        <p:spPr>
          <a:xfrm>
            <a:off x="960120" y="3895344"/>
            <a:ext cx="100584" cy="100584"/>
          </a:xfrm>
          <a:prstGeom prst="diamond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52728" y="3831336"/>
            <a:ext cx="101315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1C222B"/>
                </a:solidFill>
                <a:latin typeface="Roboto"/>
              </a:rPr>
              <a:t>Socket.io, technologie nouvelle pour moi, apprise en autonomie.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480560"/>
            <a:ext cx="107442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9EC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480560"/>
            <a:ext cx="45720" cy="1051560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754880"/>
            <a:ext cx="10241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1">
                <a:solidFill>
                  <a:srgbClr val="1C222B"/>
                </a:solidFill>
                <a:latin typeface="Playfair Display"/>
              </a:rPr>
              <a:t>J'en ressors plus autonome, avec une vision d'ensemble du développement web et la confiance nécessaire pour aborder de nouvelles technologies.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F58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2045391" y="0"/>
            <a:ext cx="146304" cy="6858000"/>
          </a:xfrm>
          <a:prstGeom prst="rect">
            <a:avLst/>
          </a:prstGeom>
          <a:solidFill>
            <a:srgbClr val="0D95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56032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 i="0">
                <a:solidFill>
                  <a:srgbClr val="FFFFFF"/>
                </a:solidFill>
                <a:latin typeface="Playfair Display"/>
              </a:rPr>
              <a:t>Merci de votre attention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3657600"/>
            <a:ext cx="1371600" cy="41148"/>
          </a:xfrm>
          <a:prstGeom prst="rect">
            <a:avLst/>
          </a:prstGeom>
          <a:solidFill>
            <a:srgbClr val="FFDB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0233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1">
                <a:solidFill>
                  <a:srgbClr val="B8C2CC"/>
                </a:solidFill>
                <a:latin typeface="Roboto"/>
              </a:rPr>
              <a:t>Place à vos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39496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A6470"/>
                </a:solidFill>
                <a:latin typeface="Roboto"/>
              </a:rPr>
              <a:t>Senior Love  ·  Axel ALVAREZ  ·  Titre Professionnel Développeur Web et Web Mobile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